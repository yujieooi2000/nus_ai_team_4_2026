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7200">
                <a:solidFill>
                  <a:srgbClr val="331B0D"/>
                </a:solidFill>
                <a:latin typeface="Atkinson Hyperlegible Next"/>
              </a:rPr>
              <a:t>AI-Powered Customer</a:t>
            </a:r>
          </a:p>
          <a:p>
            <a:pPr algn="l"/>
            <a:r>
              <a:rPr b="0" i="0" sz="7200">
                <a:solidFill>
                  <a:srgbClr val="331B0D"/>
                </a:solidFill>
                <a:latin typeface="Atkinson Hyperlegible Next"/>
              </a:rPr>
              <a:t>Support Triage and</a:t>
            </a:r>
          </a:p>
          <a:p>
            <a:pPr algn="l"/>
            <a:r>
              <a:rPr b="0" i="0" sz="7200">
                <a:solidFill>
                  <a:srgbClr val="331B0D"/>
                </a:solidFill>
                <a:latin typeface="Atkinson Hyperlegible Next"/>
              </a:rPr>
              <a:t>Resolution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675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200">
                <a:solidFill>
                  <a:srgbClr val="8C7753"/>
                </a:solidFill>
                <a:latin typeface="Atkinson Hyperlegible Next"/>
              </a:rPr>
              <a:t>GC Architecting AI Systems — Practice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223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331B0D"/>
                </a:solidFill>
                <a:latin typeface="Atkinson Hyperlegible Next"/>
              </a:rPr>
              <a:t>NUS-ISS  · 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22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0" y="685800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i="0" sz="1800">
                <a:solidFill>
                  <a:srgbClr val="331B0D"/>
                </a:solidFill>
                <a:latin typeface="Atkinson Hyperlegible Next"/>
              </a:rPr>
              <a:t>Ting Ching Jong</a:t>
            </a:r>
          </a:p>
          <a:p>
            <a:pPr algn="r"/>
            <a:r>
              <a:rPr b="0" i="0" sz="1800">
                <a:solidFill>
                  <a:srgbClr val="331B0D"/>
                </a:solidFill>
                <a:latin typeface="Atkinson Hyperlegible Next"/>
              </a:rPr>
              <a:t>Toh Chan Hao</a:t>
            </a:r>
          </a:p>
          <a:p>
            <a:pPr algn="r"/>
            <a:r>
              <a:rPr b="0" i="0" sz="1800">
                <a:solidFill>
                  <a:srgbClr val="331B0D"/>
                </a:solidFill>
                <a:latin typeface="Atkinson Hyperlegible Next"/>
              </a:rPr>
              <a:t>Teng Ching Yee</a:t>
            </a:r>
          </a:p>
          <a:p>
            <a:pPr algn="r"/>
            <a:r>
              <a:rPr b="0" i="0" sz="1800">
                <a:solidFill>
                  <a:srgbClr val="331B0D"/>
                </a:solidFill>
                <a:latin typeface="Atkinson Hyperlegible Next"/>
              </a:rPr>
              <a:t>Tang You Wei</a:t>
            </a:r>
          </a:p>
          <a:p>
            <a:pPr algn="r"/>
            <a:r>
              <a:rPr b="0" i="0" sz="1800">
                <a:solidFill>
                  <a:srgbClr val="331B0D"/>
                </a:solidFill>
                <a:latin typeface="Atkinson Hyperlegible Next"/>
              </a:rPr>
              <a:t>Ooi Yu Jie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NUS-ISS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517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900">
                <a:solidFill>
                  <a:srgbClr val="8C7753"/>
                </a:solidFill>
                <a:latin typeface="Atkinson Hyperlegible Next"/>
              </a:rPr>
              <a:t>Team: 5 members  ·  Total Effort: 600 hours  ·  Stack: Python / FastAPI / React / ChromaDB / OpenAI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320040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1.  Introduction — Problem Statement &amp; Our Solution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2.  Overall Effort to Date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3.  System Architecture — Logical, Physical, Deployment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4.  Agent Design — 8 Agents Deep Dive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5.  Explainable &amp; Responsible AI Practices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6.  AI Security Risk Register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7.  Application Demo — Three-Tier UI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8.  MLSecOps / LLMSecOps Pipeline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9.  Testing Summary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–   Key Challenges, Learnings &amp;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27432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6000">
                <a:solidFill>
                  <a:srgbClr val="8C7753"/>
                </a:solidFill>
                <a:latin typeface="Atkinson Hyperlegible Next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4114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800">
                <a:solidFill>
                  <a:srgbClr val="331B0D"/>
                </a:solidFill>
                <a:latin typeface="Atkinson Hyperlegible Next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GC Architecting AI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1 —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Telco companies handle millions of support queries daily — billing disputes, technical faults, account changes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Traditional support is slow, inconsistent, and expensive — long wait times, agent burnout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AI without guardrails introduces new risks: hallucinations, PII leakage, prompt injection attacks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Unexplainable AI decisions erode customer trust and create compliance risk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Need: a trustworthy, secure, explainable AI support system with human oversight built 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1 —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Our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A multi-agent AI system with 8 specialised agents working in a deterministic pipeline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Security-first design: every message is screened before reaching the LLM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Explainability built in: XAI trace on every triage decision — auditable and transparent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Human-in-the-Loop (HITL): humans approve escalated cases; approved answers self-train the system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Fully working prototype: FastAPI backend + 3-tier React UI + comprehensive test suite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Directly addresses all 4 module competencies: Responsible AI, Cybersecurity, Agentic AI, Integration/Deployment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27432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6000">
                <a:solidFill>
                  <a:srgbClr val="8C7753"/>
                </a:solidFill>
                <a:latin typeface="Atkinson Hyperlegible Next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4114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800">
                <a:solidFill>
                  <a:srgbClr val="331B0D"/>
                </a:solidFill>
                <a:latin typeface="Atkinson Hyperlegible Next"/>
              </a:rPr>
              <a:t>Overall Effort
to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GC Architecting AI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2 — Effort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3600">
                <a:solidFill>
                  <a:srgbClr val="331B0D"/>
                </a:solidFill>
                <a:latin typeface="Atkinson Hyperlegible Next"/>
              </a:rPr>
              <a:t>Work Breakdown Structure — 600 Hours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423160"/>
          <a:ext cx="7863839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491"/>
                <a:gridCol w="3538728"/>
                <a:gridCol w="1730044"/>
                <a:gridCol w="1179576"/>
              </a:tblGrid>
              <a:tr h="690880">
                <a:tc>
                  <a:txBody>
                    <a:bodyPr wrap="square"/>
                    <a:lstStyle/>
                    <a:p>
                      <a:pPr algn="l"/>
                      <a:r>
                        <a:rPr b="1" i="0" sz="1400">
                          <a:solidFill>
                            <a:srgbClr val="FFFFFF"/>
                          </a:solidFill>
                          <a:latin typeface="Atkinson Hyperlegible Next"/>
                        </a:rPr>
                        <a:t>Phase</a:t>
                      </a:r>
                    </a:p>
                  </a:txBody>
                  <a:tcPr>
                    <a:solidFill>
                      <a:srgbClr val="8C77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400">
                          <a:solidFill>
                            <a:srgbClr val="FFFFFF"/>
                          </a:solidFill>
                          <a:latin typeface="Atkinson Hyperlegible Next"/>
                        </a:rPr>
                        <a:t>Description</a:t>
                      </a:r>
                    </a:p>
                  </a:txBody>
                  <a:tcPr>
                    <a:solidFill>
                      <a:srgbClr val="8C77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400">
                          <a:solidFill>
                            <a:srgbClr val="FFFFFF"/>
                          </a:solidFill>
                          <a:latin typeface="Atkinson Hyperlegible Next"/>
                        </a:rPr>
                        <a:t>Hours</a:t>
                      </a:r>
                    </a:p>
                  </a:txBody>
                  <a:tcPr>
                    <a:solidFill>
                      <a:srgbClr val="8C77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400">
                          <a:solidFill>
                            <a:srgbClr val="FFFFFF"/>
                          </a:solidFill>
                          <a:latin typeface="Atkinson Hyperlegible Next"/>
                        </a:rPr>
                        <a:t>Status</a:t>
                      </a:r>
                    </a:p>
                  </a:txBody>
                  <a:tcPr>
                    <a:solidFill>
                      <a:srgbClr val="8C7753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Phase 1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Research &amp; Design (architecture, XAI strategy, prompt engineering)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100 hrs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Done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Phase 2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Core Development (8 agents, orchestrator, vector DB)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220 hrs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Done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Phase 3A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LLMOps (RAG evaluation, synthetic data, prompt versioning)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65 hrs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In Progress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Phase 3B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Infrastructure (CI/CD, Docker, cloud deployment)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35 hrs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In Progress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Phase 4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Responsible AI &amp; Security (XAI, PII masking, security audit)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80 hrs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Done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Phase 5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Testing &amp; UI (integration tests, 3-tier dashboard)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50 hrs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Done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Phase 6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Docs &amp; Presentation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50 hrs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In Progress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</a:tr>
              <a:tr h="690880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TOTAL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5-person team x 120 hours each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600 hrs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/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87782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8C7753"/>
                </a:solidFill>
                <a:latin typeface="Atkinson Hyperlegible Next"/>
              </a:rPr>
              <a:t>600 hours = 15 man-days per team member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2 — Effort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Progress to 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Done: Complete 8-agent orchestration pipeline — all agents implemented and integrated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Done: FastAPI backend with API key auth, CORS, in-memory session/ticket/analytics store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Done: 3-tier React UI — Customer Chat, Agent Dashboard, Admin Dashboard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Done: ChromaDB vector DB with dual collections (KB + self-learning approved_answers)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Done: XAI traces on every triage decision — surfaced in Admin Dashboard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Done: Unit, integration and security tests (pytest)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In Progress: GitHub Actions CI/CD pipeline — designed, implementation in progress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In Progress: Docker containerisation — Dockerfile designed, in progress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In Progress: Cloud deployment — architecture designed (Azure/Render), pending CI/CD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27432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6000">
                <a:solidFill>
                  <a:srgbClr val="8C7753"/>
                </a:solidFill>
                <a:latin typeface="Atkinson Hyperlegible Next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4114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800">
                <a:solidFill>
                  <a:srgbClr val="331B0D"/>
                </a:solidFill>
                <a:latin typeface="Atkinson Hyperlegible Next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GC Architecting AI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3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3600">
                <a:solidFill>
                  <a:srgbClr val="331B0D"/>
                </a:solidFill>
                <a:latin typeface="Atkinson Hyperlegible Next"/>
              </a:rPr>
              <a:t>Logical Architecture</a:t>
            </a:r>
          </a:p>
        </p:txBody>
      </p:sp>
      <p:pic>
        <p:nvPicPr>
          <p:cNvPr id="7" name="Picture 6" descr="logic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8880"/>
            <a:ext cx="7955279" cy="548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82296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8C7753"/>
                </a:solidFill>
                <a:latin typeface="Atkinson Hyperlegible Next"/>
              </a:rPr>
              <a:t>Three-layer design: Presentation → API → Intelligence (Orchestrator + 8 Agents)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86868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300">
                <a:solidFill>
                  <a:srgbClr val="331B0D"/>
                </a:solidFill>
                <a:latin typeface="Atkinson Hyperlegible Next"/>
              </a:rPr>
              <a:t>Design choice: deterministic pipeline (not autonomous graph) — predictable, auditable, XAI-friendly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3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Physical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Frontend: React SPA — Node dev server (dev) / static build served by Nginx or CDN (prod)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Backend: FastAPI + Uvicorn on Python — RESTful API, CORS-configured, API key protected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Storage: ChromaDB (local vector DB — persistent) + in-memory dicts for sessions/tickets/analytics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LLM: OpenAI gpt-4o-mini via external API calls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All components containerisable with Docker — orchestrated via docker-compose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In-memory state resets on server restart — by design for prototype; PostgreSQL for production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3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Deployment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Current: local development — backend on localhost:8000, frontend on localhost:5173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Target Option A (Prototype): Render or Railway — simplest, good for demo, free tier available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Target Option B (Enterprise): Azure Container Apps or AWS ECS — full CI/CD, scaling, secrets management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CI/CD Flow: git push → GitHub Actions → pytest + frontend build → Docker image → deploy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Environment separation: dev / staging / prod via environment variables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Status: architecture fully designed — implementation in progress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27432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6000">
                <a:solidFill>
                  <a:srgbClr val="8C7753"/>
                </a:solidFill>
                <a:latin typeface="Atkinson Hyperlegible Next"/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4114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800">
                <a:solidFill>
                  <a:srgbClr val="331B0D"/>
                </a:solidFill>
                <a:latin typeface="Atkinson Hyperlegible Next"/>
              </a:rPr>
              <a:t>Agent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GC Architecting AI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4 —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3600">
                <a:solidFill>
                  <a:srgbClr val="331B0D"/>
                </a:solidFill>
                <a:latin typeface="Atkinson Hyperlegible Next"/>
              </a:rPr>
              <a:t>The 9-Step Processing Pipeline</a:t>
            </a:r>
          </a:p>
        </p:txBody>
      </p:sp>
      <p:pic>
        <p:nvPicPr>
          <p:cNvPr id="7" name="Picture 6" descr="pipelin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8880"/>
            <a:ext cx="7955279" cy="548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82296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8C7753"/>
                </a:solidFill>
                <a:latin typeface="Atkinson Hyperlegible Next"/>
              </a:rPr>
              <a:t>Every customer message passes through this fixed sequence — no shortcuts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4 —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3600">
                <a:solidFill>
                  <a:srgbClr val="331B0D"/>
                </a:solidFill>
                <a:latin typeface="Atkinson Hyperlegible Next"/>
              </a:rPr>
              <a:t>8 Specialised Agents</a:t>
            </a:r>
          </a:p>
        </p:txBody>
      </p:sp>
      <p:pic>
        <p:nvPicPr>
          <p:cNvPr id="7" name="Picture 6" descr="agen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8880"/>
            <a:ext cx="7955279" cy="548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82296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8C7753"/>
                </a:solidFill>
                <a:latin typeface="Atkinson Hyperlegible Next"/>
              </a:rPr>
              <a:t>Each agent has a single responsibility, named threshold constants, and structured outputs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4 —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Agent 1: Security &amp; Compliance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Role: First gate — screens every message before any other processing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Reasoning: detect-and-stop pattern; runs unconditionally on all inputs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PII Detection: email, phone, NRIC, passport, credit card, CVV, bank account, date of birth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Jailbreak Detection: 10+ patterns — 'ignore instructions', 'developer mode', 'reveal system prompt'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Telco-Sensitive Keywords: OTP, SIM swap, eSIM, account PIN — escalates to security team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Output: risk_level (low / medium / high / critical)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If critical → pipeline halts immediately → routes to security_compliance_team queue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Tools: regex pattern matching, keyword blacklists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4 —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Agent 2: Triage Agent + XAI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Role: Classify every request and explain the classification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6 Intent Categories: billing, technical_support, account_issue, order_status, general_inquiry, security_alert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Outputs: intent, priority (low/high), sentiment (positive/neutral/negative), confidence score, risk score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XAI Output: structured chain-of-thought explanation — 'Why did I classify this as billing?'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Tools: ML intent model (joblib) with keyword fallback — graceful degradation if model unavailable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Sentiment: TextBlob with named thresholds (POSITIVE = 0.2, NEGATIVE = -0.2)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Memory: stateless — each request classified independently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4 —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Agent 3: Information Retrieval Agent (RAG)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Role: Ground every response in verified knowledge — prevent free-form hallucination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Dual-Collection Search: customer_support_kb (curated) + approved_answers (self-learned)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Dual-Mode Retrieval: vector similarity search (ChromaDB, primary) with TF-IDF keyword fallback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Returns: top-k documents, similarity scores, confidence, grounded response draft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Self-Learning: human-approved replies are vectorised and added to approved_answers automatically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Future queries surface these validated answers without any code changes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Memory: persistent vector store — survives server restarts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4 —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Agent 4: Conversation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Role: Generate a contextually grounded, policy-compliant response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Model: OpenAI gpt-4o-mini — cost-effective, sufficient quality for support use case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Temperature: 0.3 — consistent, low-variance responses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System Prompt Rules: no OTP generation, no full PII disclosure, require verification for sensitive ops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Context Window: retrieved KB docs + full conversation history passed on every call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Not free-form generation — every response is constrained by retrieved knowledge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Memory: conversation history maintained in session state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4 —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Agent 5: Verification Agent — 'The Critic'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Role: Catch hallucinations before they reach the customer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Approach: separate LLM critique pass — more reliable than asking the same model to self-correct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Check: is every claim in the response fully supported by the retrieved documents?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Output: is_factual, hallucination_detected, unsupported_claims[], confidence_score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Recommendations: ACCEPT / REVISE / ESCALATE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Fail-Safe: JSON parse error defaults to ESCALATE — never silently passes bad output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Design principle: conservative by default — when in doubt, escalate to a human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4 —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Agent 6: Resolution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Role: Final automated quality gate before the response reaches the customer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Catches signals the hallucination check might miss: vague language, unhelpful brevity, missing guidance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Detects: uncertain language ('not sure', 'maybe', 'probably'), replies &lt; 20 chars, missing telco next steps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Named Thresholds: ESCALATE_SCORE_THRESHOLD = 5, REVISE_SCORE_THRESHOLD = 2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Output: ACCEPT_REPLY / REVISE_REPLY / ESCALATE_OR_RETRY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Efficiency: rule-based scoring — no LLM call, keeps latency low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Design choice: keeps the 'last mile' check fast and deterministic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4 —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Agent 7: Escalation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Role: Intelligent routing to the right human specialist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10 Specialist Queues: billing, technical, security, retention, sales, general, etc.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Frustration Detection: 100+ keywords including 'internet still down', 'bill is still wrong'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Explicit Human Requests: 'talk to a human', 'transfer me', 'speak to an agent'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Scoring: human_request (+5), frustration (+2), failed_attempts (+3), telco_sensitive (+4), jailbreak (+10)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ESCALATION_THRESHOLD = 5 — named constant, auditable, adjustable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Output: escalation reason, recommended queue, urgency level, AI-drafted suggested reply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4 — 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Agent 8: Analytics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Role: System monitoring, continuous improvement, and feedback loops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Logs every interaction: timestamp, triage analysis, resolution outcome, conversation history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Key Metrics: resolution_rate, escalation_rate, hallucination_rate, avg_retrieval_confidence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Drift Detection: alerts when retrieval confidence drops, escalation rate spikes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Knowledge Gap Identification: categories with high escalation rates flagged for KB enrichment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Feedback Loops: improvement signals sent back to Triage, Retrieval, Verification, Escalation agents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Tools: in-memory analytics store with structured metric computation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27432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6000">
                <a:solidFill>
                  <a:srgbClr val="8C7753"/>
                </a:solidFill>
                <a:latin typeface="Atkinson Hyperlegible Next"/>
              </a:rP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4114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800">
                <a:solidFill>
                  <a:srgbClr val="331B0D"/>
                </a:solidFill>
                <a:latin typeface="Atkinson Hyperlegible Next"/>
              </a:rPr>
              <a:t>Explainable &amp;
Responsible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GC Architecting AI Systems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5 —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Explainable AI (XAI)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Multi-layer explainability across the full pipeline: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Triage: WHY was this classified as billing/technical/etc.?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Chain-of-thought explanation on every decision — stored with interaction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Retrieval: WHICH knowledge base documents grounded this answer?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Similarity scores surfaced in Admin Dashboard — auditable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Verification: WAS the response factually supported?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Unsupported claims listed explicitly when hallucination detected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Resolution: WHY was this accepted, revised, or escalated?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Scoring breakdown available — not a black box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Design principle: any decision must be explainable to a regulator, auditor, or customer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5 —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Responsible AI Practices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Bias Safeguards: rule-based triage fallback + named thresholds — not purely opaque ML decisions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Fairness: identical pipeline for every customer — no differential treatment based on input metadata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Accountability: HITL gate ensures a human approves all responses entering the self-learning KB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Assurance: VerificationAgent prevents hallucinations from reaching customers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Governance: all thresholds are named constants in code — documented, version-controlled, auditable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Transparency: open-source stack, no black-box vendor dependencies for core logic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Human-in-the-Loop: humans can override any AI decision at the escalation stage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27432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6000">
                <a:solidFill>
                  <a:srgbClr val="8C7753"/>
                </a:solidFill>
                <a:latin typeface="Atkinson Hyperlegible Next"/>
              </a:rP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4114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800">
                <a:solidFill>
                  <a:srgbClr val="331B0D"/>
                </a:solidFill>
                <a:latin typeface="Atkinson Hyperlegible Next"/>
              </a:rPr>
              <a:t>AI Security
Risk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GC Architecting AI Systems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6 —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3600">
                <a:solidFill>
                  <a:srgbClr val="331B0D"/>
                </a:solidFill>
                <a:latin typeface="Atkinson Hyperlegible Next"/>
              </a:rPr>
              <a:t>AI Security Risk Register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423160"/>
          <a:ext cx="7863839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491"/>
                <a:gridCol w="3538728"/>
                <a:gridCol w="1730044"/>
                <a:gridCol w="1179576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1" i="0" sz="1400">
                          <a:solidFill>
                            <a:srgbClr val="FFFFFF"/>
                          </a:solidFill>
                          <a:latin typeface="Atkinson Hyperlegible Next"/>
                        </a:rPr>
                        <a:t>Risk</a:t>
                      </a:r>
                    </a:p>
                  </a:txBody>
                  <a:tcPr>
                    <a:solidFill>
                      <a:srgbClr val="8C77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400">
                          <a:solidFill>
                            <a:srgbClr val="FFFFFF"/>
                          </a:solidFill>
                          <a:latin typeface="Atkinson Hyperlegible Next"/>
                        </a:rPr>
                        <a:t>Category</a:t>
                      </a:r>
                    </a:p>
                  </a:txBody>
                  <a:tcPr>
                    <a:solidFill>
                      <a:srgbClr val="8C77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400">
                          <a:solidFill>
                            <a:srgbClr val="FFFFFF"/>
                          </a:solidFill>
                          <a:latin typeface="Atkinson Hyperlegible Next"/>
                        </a:rPr>
                        <a:t>Mitigation</a:t>
                      </a:r>
                    </a:p>
                  </a:txBody>
                  <a:tcPr>
                    <a:solidFill>
                      <a:srgbClr val="8C775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i="0" sz="1400">
                          <a:solidFill>
                            <a:srgbClr val="FFFFFF"/>
                          </a:solidFill>
                          <a:latin typeface="Atkinson Hyperlegible Next"/>
                        </a:rPr>
                        <a:t>Status</a:t>
                      </a:r>
                    </a:p>
                  </a:txBody>
                  <a:tcPr>
                    <a:solidFill>
                      <a:srgbClr val="8C775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Prompt Injection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Input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SecurityComplianceAgent — jailbreak pattern matching, runs first unconditionally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Implemented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PII Leakage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Privacy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PII masking (8 types: email, phone, NRIC, CC, CVV, passport, DOB, bank) before downstream agents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Implemented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Hallucination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Output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VerificationAgent grounding check + ResolutionAgent quality gate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Implemented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Insecure Output Handling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Output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ConversationAgent system prompt rules — no OTP/PIN generation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Implemented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Unauthorised API Access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Auth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X-API-Key header authentication on all agent/admin endpoints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Implemented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Telco-Sensitive Bypass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Security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OTP/SIM/PIN keywords score +4 in EscalationAgent — forces escalation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Implemented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Excessive AI Autonomy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Governance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HITL gate — human must approve before answer enters self-learning KB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Implemented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Model/Data Drift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LLMOps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AnalyticsAgent drift detection with feedback loops to all agents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Implemented</a:t>
                      </a:r>
                    </a:p>
                  </a:txBody>
                  <a:tcPr>
                    <a:solidFill>
                      <a:srgbClr val="FAF7F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Adversarial Prompts (adv.)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Input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LlamaGuard integration — proposed future enhancement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i="0" sz="1300">
                          <a:solidFill>
                            <a:srgbClr val="331B0D"/>
                          </a:solidFill>
                          <a:latin typeface="Atkinson Hyperlegible Next"/>
                        </a:rPr>
                        <a:t>Planned</a:t>
                      </a:r>
                    </a:p>
                  </a:txBody>
                  <a:tcPr>
                    <a:solidFill>
                      <a:srgbClr val="F5EFE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87782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200">
                <a:solidFill>
                  <a:srgbClr val="8C7753"/>
                </a:solidFill>
                <a:latin typeface="Atkinson Hyperlegible Next"/>
              </a:rPr>
              <a:t>Defence in Depth: 5 independent security layers — no single point of failure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27432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6000">
                <a:solidFill>
                  <a:srgbClr val="8C7753"/>
                </a:solidFill>
                <a:latin typeface="Atkinson Hyperlegible Next"/>
              </a:rP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4114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800">
                <a:solidFill>
                  <a:srgbClr val="331B0D"/>
                </a:solidFill>
                <a:latin typeface="Atkinson Hyperlegible Next"/>
              </a:rPr>
              <a:t>Application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GC Architecting AI Systems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7 —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Three-Tier UI Prototype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Three dashboards for three distinct personas: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1. Customer Chat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Simple, intuitive chat interface — no AI complexity exposed to the customer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2. Agent Dashboard (HITL)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Ticket management — review, approve, or custom-reply to AI-escalated queries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3. Admin Dashboard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Analytics, XAI traces, system performance, knowledge gap reports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Built with React + Vite + Ant Design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Single-page app — NavBar switches between dashboards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All API calls centralised in ui/src/services/api.js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7 —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3600">
                <a:solidFill>
                  <a:srgbClr val="331B0D"/>
                </a:solidFill>
                <a:latin typeface="Atkinson Hyperlegible Next"/>
              </a:rPr>
              <a:t>Customer Chat —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37744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514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700">
                <a:solidFill>
                  <a:srgbClr val="331B0D"/>
                </a:solidFill>
                <a:latin typeface="Atkinson Hyperlegible Next"/>
              </a:rPr>
              <a:t>Send a message, receive an AI-powered response grounded in the knowledge base</a:t>
            </a:r>
          </a:p>
          <a:p>
            <a:pPr algn="l" marL="457200" indent="-228600">
              <a:buChar char="–"/>
              <a:buFont typeface="Arial"/>
            </a:pPr>
            <a:r>
              <a:rPr b="0" i="0" sz="1700">
                <a:solidFill>
                  <a:srgbClr val="331B0D"/>
                </a:solidFill>
                <a:latin typeface="Atkinson Hyperlegible Next"/>
              </a:rPr>
              <a:t>Full conversation history maintained throughout the session</a:t>
            </a:r>
          </a:p>
          <a:p>
            <a:pPr algn="l" marL="457200" indent="-228600">
              <a:buChar char="–"/>
              <a:buFont typeface="Arial"/>
            </a:pPr>
            <a:r>
              <a:rPr b="0" i="0" sz="1700">
                <a:solidFill>
                  <a:srgbClr val="331B0D"/>
                </a:solidFill>
                <a:latin typeface="Atkinson Hyperlegible Next"/>
              </a:rPr>
              <a:t>If escalated: 'A support agent will be in touch'</a:t>
            </a:r>
          </a:p>
          <a:p>
            <a:pPr algn="l" marL="457200" indent="-228600">
              <a:buChar char="–"/>
              <a:buFont typeface="Arial"/>
            </a:pPr>
            <a:r>
              <a:rPr b="0" i="0" sz="1700">
                <a:solidFill>
                  <a:srgbClr val="331B0D"/>
                </a:solidFill>
                <a:latin typeface="Atkinson Hyperlegible Next"/>
              </a:rPr>
              <a:t>Clean, simple UI — no AI complexity exposed to the customer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514600"/>
            <a:ext cx="3840480" cy="5029200"/>
          </a:xfrm>
          <a:prstGeom prst="rect">
            <a:avLst/>
          </a:prstGeom>
          <a:solidFill>
            <a:srgbClr val="E8DFD0"/>
          </a:solidFill>
          <a:ln>
            <a:solidFill>
              <a:srgbClr val="8C7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514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300">
                <a:solidFill>
                  <a:srgbClr val="8C7753"/>
                </a:solidFill>
                <a:latin typeface="Atkinson Hyperlegible Next"/>
              </a:rPr>
              <a:t>[SCREENSHOT PLACEHOLDER]
Take screenshot from
http://localhost:5173
Customer Chat tab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7 —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3600">
                <a:solidFill>
                  <a:srgbClr val="331B0D"/>
                </a:solidFill>
                <a:latin typeface="Atkinson Hyperlegible Next"/>
              </a:rPr>
              <a:t>Agent Dashboard — Human-in-the-Loop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37744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514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700">
                <a:solidFill>
                  <a:srgbClr val="331B0D"/>
                </a:solidFill>
                <a:latin typeface="Atkinson Hyperlegible Next"/>
              </a:rPr>
              <a:t>Lists all open escalated tickets with triage analysis (intent/sentiment/priority)</a:t>
            </a:r>
          </a:p>
          <a:p>
            <a:pPr algn="l" marL="457200" indent="-228600">
              <a:buChar char="–"/>
              <a:buFont typeface="Arial"/>
            </a:pPr>
            <a:r>
              <a:rPr b="0" i="0" sz="1700">
                <a:solidFill>
                  <a:srgbClr val="331B0D"/>
                </a:solidFill>
                <a:latin typeface="Atkinson Hyperlegible Next"/>
              </a:rPr>
              <a:t>AI-drafted reply suggestion shown for each ticket</a:t>
            </a:r>
          </a:p>
          <a:p>
            <a:pPr algn="l" marL="457200" indent="-228600">
              <a:buChar char="–"/>
              <a:buFont typeface="Arial"/>
            </a:pPr>
            <a:r>
              <a:rPr b="0" i="0" sz="1700">
                <a:solidFill>
                  <a:srgbClr val="331B0D"/>
                </a:solidFill>
                <a:latin typeface="Atkinson Hyperlegible Next"/>
              </a:rPr>
              <a:t>Three actions: Approve AI Draft | Write Custom Reply | Escalate</a:t>
            </a:r>
          </a:p>
          <a:p>
            <a:pPr algn="l" marL="457200" indent="-228600">
              <a:buChar char="–"/>
              <a:buFont typeface="Arial"/>
            </a:pPr>
            <a:r>
              <a:rPr b="0" i="0" sz="1700">
                <a:solidFill>
                  <a:srgbClr val="331B0D"/>
                </a:solidFill>
                <a:latin typeface="Atkinson Hyperlegible Next"/>
              </a:rPr>
              <a:t>Buttons disappear after action — prevents double-handling, audit trail preserved</a:t>
            </a:r>
          </a:p>
          <a:p>
            <a:pPr algn="l" marL="457200" indent="-228600">
              <a:buChar char="–"/>
              <a:buFont typeface="Arial"/>
            </a:pPr>
            <a:r>
              <a:rPr b="0" i="0" sz="1700">
                <a:solidFill>
                  <a:srgbClr val="331B0D"/>
                </a:solidFill>
                <a:latin typeface="Atkinson Hyperlegible Next"/>
              </a:rPr>
              <a:t>Approving a reply triggers self-learning: added to approved_answers ChromaDB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514600"/>
            <a:ext cx="3840480" cy="5029200"/>
          </a:xfrm>
          <a:prstGeom prst="rect">
            <a:avLst/>
          </a:prstGeom>
          <a:solidFill>
            <a:srgbClr val="E8DFD0"/>
          </a:solidFill>
          <a:ln>
            <a:solidFill>
              <a:srgbClr val="8C7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514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300">
                <a:solidFill>
                  <a:srgbClr val="8C7753"/>
                </a:solidFill>
                <a:latin typeface="Atkinson Hyperlegible Next"/>
              </a:rPr>
              <a:t>[SCREENSHOT PLACEHOLDER]
Take screenshot from
http://localhost:5173
Agent Dashboard tab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7 —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3600">
                <a:solidFill>
                  <a:srgbClr val="331B0D"/>
                </a:solidFill>
                <a:latin typeface="Atkinson Hyperlegible Next"/>
              </a:rPr>
              <a:t>Admin Dashboard — Analytics &amp; XAI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37744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514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700">
                <a:solidFill>
                  <a:srgbClr val="331B0D"/>
                </a:solidFill>
                <a:latin typeface="Atkinson Hyperlegible Next"/>
              </a:rPr>
              <a:t>System performance metrics: resolution rate, escalation rate, hallucination rate</a:t>
            </a:r>
          </a:p>
          <a:p>
            <a:pPr algn="l" marL="457200" indent="-228600">
              <a:buChar char="–"/>
              <a:buFont typeface="Arial"/>
            </a:pPr>
            <a:r>
              <a:rPr b="0" i="0" sz="1700">
                <a:solidFill>
                  <a:srgbClr val="331B0D"/>
                </a:solidFill>
                <a:latin typeface="Atkinson Hyperlegible Next"/>
              </a:rPr>
              <a:t>Category breakdown of all queries handled</a:t>
            </a:r>
          </a:p>
          <a:p>
            <a:pPr algn="l" marL="457200" indent="-228600">
              <a:buChar char="–"/>
              <a:buFont typeface="Arial"/>
            </a:pPr>
            <a:r>
              <a:rPr b="0" i="0" sz="1700">
                <a:solidFill>
                  <a:srgbClr val="331B0D"/>
                </a:solidFill>
                <a:latin typeface="Atkinson Hyperlegible Next"/>
              </a:rPr>
              <a:t>XAI traces panel: drilldown into any interaction's full decision chain</a:t>
            </a:r>
          </a:p>
          <a:p>
            <a:pPr algn="l" marL="457200" indent="-228600">
              <a:buChar char="–"/>
              <a:buFont typeface="Arial"/>
            </a:pPr>
            <a:r>
              <a:rPr b="0" i="0" sz="1700">
                <a:solidFill>
                  <a:srgbClr val="331B0D"/>
                </a:solidFill>
                <a:latin typeface="Atkinson Hyperlegible Next"/>
              </a:rPr>
              <a:t>Knowledge gap report: categories being escalated most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514600"/>
            <a:ext cx="3840480" cy="5029200"/>
          </a:xfrm>
          <a:prstGeom prst="rect">
            <a:avLst/>
          </a:prstGeom>
          <a:solidFill>
            <a:srgbClr val="E8DFD0"/>
          </a:solidFill>
          <a:ln>
            <a:solidFill>
              <a:srgbClr val="8C7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514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300">
                <a:solidFill>
                  <a:srgbClr val="8C7753"/>
                </a:solidFill>
                <a:latin typeface="Atkinson Hyperlegible Next"/>
              </a:rPr>
              <a:t>[SCREENSHOT PLACEHOLDER]
Take screenshot from
http://localhost:5173
Admin Dashboard tab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27432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6000">
                <a:solidFill>
                  <a:srgbClr val="8C7753"/>
                </a:solidFill>
                <a:latin typeface="Atkinson Hyperlegible Next"/>
              </a:rP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4114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800">
                <a:solidFill>
                  <a:srgbClr val="331B0D"/>
                </a:solidFill>
                <a:latin typeface="Atkinson Hyperlegible Next"/>
              </a:rPr>
              <a:t>MLSecOps /
LLMSecOps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GC Architecting AI Systems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8 — MLSecOps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LLMSecOps — Treating AI Like Production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Four pillars of our LLMOps approach: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1. Prompt Versioning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System prompts live in code — git history = prompt history, every change is tracked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2. Automated Testing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pytest runs on every commit (unit + integration + security tests)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3. Performance Monitoring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AnalyticsAgent tracks metrics in real time — escalation rate, hallucination rate, retrieval confidence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4. Self-Learning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Human-approved answers continuously enrich the knowledge base — no manual retraining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8 — MLSecOps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CI/CD Pipeline Architecture (In Progress)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Designed: GitHub Actions workflow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Step 1: Test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Run pytest — backend unit, integration, security tests — fails fast on regressions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Step 2: Build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npm run build — frontend production build verified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Step 3: Containerise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Build Docker images for backend + frontend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Step 4: Deploy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Push to container registry → deploy to cloud (Render/Railway or Azure Container Apps)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Note: CI/CD implementation in progress — to be demonstrated in final submission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8 — MLSecOps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Self-Learning &amp; Continuous Monitoring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8C7753"/>
                </a:solidFill>
                <a:latin typeface="Atkinson Hyperlegible Next"/>
              </a:rPr>
              <a:t>Self-Learning Loop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1. Customer query escalated → human agent reviews ticket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2. Agent approves AI draft or writes custom reply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3. Approved reply vectorised → stored in approved_answers ChromaDB collection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4. Future similar queries automatically surface this validated answer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5. InformationRetrievalAgent searches both collections — no code change needed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Drift Monitoring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AnalyticsAgent tracks: retrieval_confidence, escalation_rate, hallucination_rate over time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Drift detected → alert generated → signals fed back to affected agents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Knowledge gap report: categories with high escalation rates need KB enrichment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27432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6000">
                <a:solidFill>
                  <a:srgbClr val="8C7753"/>
                </a:solidFill>
                <a:latin typeface="Atkinson Hyperlegible Next"/>
              </a:rP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41148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800">
                <a:solidFill>
                  <a:srgbClr val="331B0D"/>
                </a:solidFill>
                <a:latin typeface="Atkinson Hyperlegible Next"/>
              </a:rPr>
              <a:t>Testing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GC Architecting AI Systems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9 —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Testing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8C7753"/>
                </a:solidFill>
                <a:latin typeface="Atkinson Hyperlegible Next"/>
              </a:rPr>
              <a:t>Unit Tests (pytest)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TriageAgent: billing/technical/general classification, routing logic, security detection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EscalationAgent: frustration detection, routing to correct queue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ResolutionAgent: quality scoring, threshold enforcement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AnalyticsAgent: metric computation, interaction logging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Integration Tests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Full pipeline with real orchestrator — end-to-end message processing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Security Tests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Prompt injection attempts ('Ignore previous instructions'), jailbreak patterns, PII exposure checks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Design Principle: test real agent behaviour, not mocked responses — prevents mock/production divergence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Section 9 —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Test Results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PASS: Billing request correctly classified as 'billing' and routed to ResolutionAgent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PASS: Urgent technical request classified 'technical_support' with high priority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PASS: 'Ignore previous instructions' classified as 'security_alert' and routed to EscalationAgent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PASS: General inquiry classified correctly — low priority — standard pipeline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PASS: All agents return structured outputs (dataclasses/dicts) — easy to assert against in tests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PASS: Routing logic — all intent categories route to correct downstream agent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IN PROGRESS: RAGAS automated RAG evaluation — planned for LLMOps phase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IN PROGRESS: Load/performance testing — planned for pre-deployment phase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Challenges &amp;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Key Challenges &amp; How We Solved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8C7753"/>
                </a:solidFill>
                <a:latin typeface="Atkinson Hyperlegible Next"/>
              </a:rPr>
              <a:t>LLM Hallucinations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Solution: dedicated VerificationAgent as independent 'critic' — catches what self-correction misses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Knowing When to Escalate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Solution: multi-signal scoring in EscalationAgent — 100+ keywords, risk levels, confidence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AI Security Without Blocking Legitimate Queries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Solution: layered approach — only critical risk stops the pipeline; medium risk adds context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Making AI Decisions Auditable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Solution: XAI on every triage decision + full trace stored in Admin Dashboard</a:t>
            </a:r>
          </a:p>
          <a:p>
            <a:pPr algn="l">
              <a:spcBef>
                <a:spcPts val="600"/>
              </a:spcBef>
            </a:pPr>
            <a:r>
              <a:rPr b="1" i="0" sz="1800">
                <a:solidFill>
                  <a:srgbClr val="8C7753"/>
                </a:solidFill>
                <a:latin typeface="Atkinson Hyperlegible Next"/>
              </a:rPr>
              <a:t>Self-Learning Without Compounding Bad Answers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Solution: HITL approval gate — humans must validate before any answer enters the KB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C7753"/>
                </a:solidFill>
                <a:latin typeface="Atkinson Hyperlegible Next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0" y="9052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1400">
                <a:solidFill>
                  <a:srgbClr val="331B0D"/>
                </a:solidFill>
                <a:latin typeface="Atkinson Hyperlegible Next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000">
                <a:solidFill>
                  <a:srgbClr val="331B0D"/>
                </a:solidFill>
                <a:latin typeface="Atkinson Hyperlegible Next"/>
              </a:rPr>
              <a:t>Future Enhancements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8700" y="2514600"/>
            <a:ext cx="7498079" cy="27432"/>
          </a:xfrm>
          <a:prstGeom prst="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2697480"/>
            <a:ext cx="76809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Cloud Deployment: containerised deployment to Azure Container Apps or Render (CI/CD in progress)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Persistent Database: replace in-memory state with PostgreSQL for production durability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LangGraph: upgrade orchestrator to support complex stateful workflows, retries, and loops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RAGAS Evaluation: automated RAG evaluation integrated into CI pipeline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LlamaGuard: advanced adversarial prompt detection for enterprise-grade security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Real-Time Dashboards: WebSocket updates for live ticket and analytics feeds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Mobile-Responsive UI: extend frontend for mobile customers</a:t>
            </a:r>
          </a:p>
          <a:p>
            <a:pPr algn="l" marL="457200" indent="-228600">
              <a:buChar char="–"/>
              <a:buFont typeface="Arial"/>
            </a:pPr>
            <a:r>
              <a:rPr b="0" i="0" sz="1800">
                <a:solidFill>
                  <a:srgbClr val="331B0D"/>
                </a:solidFill>
                <a:latin typeface="Atkinson Hyperlegible Next"/>
              </a:rPr>
              <a:t>Multi-Language Support: extend telco KB and prompts for non-English queries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Panel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870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4800">
                <a:solidFill>
                  <a:srgbClr val="331B0D"/>
                </a:solidFill>
                <a:latin typeface="Atkinson Hyperlegible Next"/>
              </a:rPr>
              <a:t>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27432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800"/>
              </a:spcBef>
            </a:pPr>
            <a:r>
              <a:rPr b="0" i="0" sz="2600">
                <a:solidFill>
                  <a:srgbClr val="331B0D"/>
                </a:solidFill>
                <a:latin typeface="Atkinson Hyperlegible Next"/>
              </a:rPr>
              <a:t>Ting Ching Jong</a:t>
            </a:r>
          </a:p>
          <a:p>
            <a:pPr algn="l">
              <a:spcBef>
                <a:spcPts val="800"/>
              </a:spcBef>
            </a:pPr>
            <a:r>
              <a:rPr b="0" i="0" sz="2600">
                <a:solidFill>
                  <a:srgbClr val="331B0D"/>
                </a:solidFill>
                <a:latin typeface="Atkinson Hyperlegible Next"/>
              </a:rPr>
              <a:t>Toh Chan Hao</a:t>
            </a:r>
          </a:p>
          <a:p>
            <a:pPr algn="l">
              <a:spcBef>
                <a:spcPts val="800"/>
              </a:spcBef>
            </a:pPr>
            <a:r>
              <a:rPr b="0" i="0" sz="2600">
                <a:solidFill>
                  <a:srgbClr val="331B0D"/>
                </a:solidFill>
                <a:latin typeface="Atkinson Hyperlegible Next"/>
              </a:rPr>
              <a:t>Teng Ching Yee</a:t>
            </a:r>
          </a:p>
          <a:p>
            <a:pPr algn="l">
              <a:spcBef>
                <a:spcPts val="800"/>
              </a:spcBef>
            </a:pPr>
            <a:r>
              <a:rPr b="0" i="0" sz="2600">
                <a:solidFill>
                  <a:srgbClr val="331B0D"/>
                </a:solidFill>
                <a:latin typeface="Atkinson Hyperlegible Next"/>
              </a:rPr>
              <a:t>Tang You Wei</a:t>
            </a:r>
          </a:p>
          <a:p>
            <a:pPr algn="l">
              <a:spcBef>
                <a:spcPts val="800"/>
              </a:spcBef>
            </a:pPr>
            <a:r>
              <a:rPr b="0" i="0" sz="2600">
                <a:solidFill>
                  <a:srgbClr val="331B0D"/>
                </a:solidFill>
                <a:latin typeface="Atkinson Hyperlegible Next"/>
              </a:rPr>
              <a:t>Ooi Yu Jie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7772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800">
                <a:solidFill>
                  <a:srgbClr val="8C7753"/>
                </a:solidFill>
                <a:latin typeface="Atkinson Hyperlegible Next"/>
              </a:rPr>
              <a:t>NUS-ISS  ·  GC Architecting AI Systems  ·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16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600">
                <a:solidFill>
                  <a:srgbClr val="331B0D"/>
                </a:solidFill>
                <a:latin typeface="Atkinson Hyperlegible Next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3200">
                <a:solidFill>
                  <a:srgbClr val="8C7753"/>
                </a:solidFill>
                <a:latin typeface="Atkinson Hyperlegible Next"/>
              </a:rPr>
              <a:t>Questions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0" y="6858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sz="2000">
                <a:solidFill>
                  <a:srgbClr val="8C7753"/>
                </a:solidFill>
                <a:latin typeface="Atkinson Hyperlegible Next"/>
              </a:rPr>
              <a:t>NUS AI Team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0" y="731520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i="0" sz="1700">
                <a:solidFill>
                  <a:srgbClr val="331B0D"/>
                </a:solidFill>
                <a:latin typeface="Atkinson Hyperlegible Next"/>
              </a:rPr>
              <a:t>Ting Ching Jong</a:t>
            </a:r>
          </a:p>
          <a:p>
            <a:pPr algn="r"/>
            <a:r>
              <a:rPr b="0" i="0" sz="1700">
                <a:solidFill>
                  <a:srgbClr val="331B0D"/>
                </a:solidFill>
                <a:latin typeface="Atkinson Hyperlegible Next"/>
              </a:rPr>
              <a:t>Toh Chan Hao</a:t>
            </a:r>
          </a:p>
          <a:p>
            <a:pPr algn="r"/>
            <a:r>
              <a:rPr b="0" i="0" sz="1700">
                <a:solidFill>
                  <a:srgbClr val="331B0D"/>
                </a:solidFill>
                <a:latin typeface="Atkinson Hyperlegible Next"/>
              </a:rPr>
              <a:t>Teng Ching Yee</a:t>
            </a:r>
          </a:p>
          <a:p>
            <a:pPr algn="r"/>
            <a:r>
              <a:rPr b="0" i="0" sz="1700">
                <a:solidFill>
                  <a:srgbClr val="331B0D"/>
                </a:solidFill>
                <a:latin typeface="Atkinson Hyperlegible Next"/>
              </a:rPr>
              <a:t>Tang You Wei</a:t>
            </a:r>
          </a:p>
          <a:p>
            <a:pPr algn="r"/>
            <a:r>
              <a:rPr b="0" i="0" sz="1700">
                <a:solidFill>
                  <a:srgbClr val="331B0D"/>
                </a:solidFill>
                <a:latin typeface="Atkinson Hyperlegible Next"/>
              </a:rPr>
              <a:t>Ooi Yu Jie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8C7753"/>
                </a:solidFill>
                <a:latin typeface="Atkinson Hyperlegible Next"/>
              </a:rPr>
              <a:t>NUS-ISS  ·  GC Architecting AI Systems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